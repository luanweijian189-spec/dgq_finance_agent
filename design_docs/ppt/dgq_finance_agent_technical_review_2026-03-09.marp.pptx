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marp: true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theme: default</a:t>
            </a:r>
          </a:p>
          <a:p>
            <a:pPr algn="l">
              <a:defRPr sz="1800"/>
            </a:pPr>
            <a:r>
              <a:t>paginate: true</a:t>
            </a:r>
          </a:p>
          <a:p>
            <a:pPr algn="l">
              <a:defRPr sz="1800"/>
            </a:pPr>
            <a:r>
              <a:t>size: 16:9</a:t>
            </a:r>
          </a:p>
          <a:p>
            <a:pPr algn="l">
              <a:defRPr sz="1800"/>
            </a:pPr>
            <a:r>
              <a:t>title: dgq_finance_agent 技术评审汇报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dgq_finance_agent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技术评审版汇报（逻辑细化增强版）</a:t>
            </a:r>
          </a:p>
          <a:p>
            <a:pPr lvl="1" algn="l">
              <a:defRPr sz="1800"/>
            </a:pPr>
            <a:r>
              <a:t>日期：2026-03-09</a:t>
            </a:r>
          </a:p>
          <a:p>
            <a:pPr lvl="1" algn="l">
              <a:defRPr sz="1800"/>
            </a:pPr>
            <a:r>
              <a:t>面向对象：技术评审 / 架构评审 / 项目复盘</a:t>
            </a:r>
          </a:p>
          <a:p>
            <a:pPr lvl="1" algn="l">
              <a:defRPr sz="1800"/>
            </a:pPr>
            <a:r>
              <a:t>汇报重点：讲清“做了什么技术、做到什么程度、还有什么问题”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1. 项目目标：系统到底要解决什么问题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原始业务问题</a:t>
            </a:r>
          </a:p>
          <a:p>
            <a:pPr lvl="1" algn="l">
              <a:defRPr sz="1800"/>
            </a:pPr>
            <a:r>
              <a:t>股票推荐信息分散在聊天、人工记录、研报摘录中，容易丢失</a:t>
            </a:r>
          </a:p>
          <a:p>
            <a:pPr lvl="1" algn="l">
              <a:defRPr sz="1800"/>
            </a:pPr>
            <a:r>
              <a:t>知道“有人推荐过”，但不知道“后来结果如何”</a:t>
            </a:r>
          </a:p>
          <a:p>
            <a:pPr lvl="1" algn="l">
              <a:defRPr sz="1800"/>
            </a:pPr>
            <a:r>
              <a:t>无法量化判断：</a:t>
            </a:r>
          </a:p>
          <a:p>
            <a:pPr lvl="1" algn="l">
              <a:defRPr sz="1800"/>
            </a:pPr>
            <a:r>
              <a:t>哪只股票值得继续跟踪</a:t>
            </a:r>
          </a:p>
          <a:p>
            <a:pPr lvl="1" algn="l">
              <a:defRPr sz="1800"/>
            </a:pPr>
            <a:r>
              <a:t>哪位荐股人更可靠</a:t>
            </a:r>
          </a:p>
          <a:p>
            <a:pPr lvl="1" algn="l">
              <a:defRPr sz="1800"/>
            </a:pPr>
            <a:r>
              <a:t>哪类逻辑长期有效</a:t>
            </a:r>
          </a:p>
          <a:p>
            <a:pPr lvl="1" algn="l">
              <a:defRPr sz="1800"/>
            </a:pPr>
            <a:r>
              <a:t>传统日线级跟踪不足，盘中强弱变化无法及时反映</a:t>
            </a:r>
          </a:p>
          <a:p>
            <a:pPr algn="l">
              <a:defRPr sz="2000" b="1"/>
            </a:pPr>
            <a:r>
              <a:t>系统目标</a:t>
            </a:r>
          </a:p>
          <a:p>
            <a:pPr algn="l">
              <a:defRPr sz="1800"/>
            </a:pPr>
            <a:r>
              <a:t>把“消息流”升级成“研究流”，形成完整闭环：</a:t>
            </a:r>
          </a:p>
          <a:p>
            <a:pPr algn="l">
              <a:defRPr sz="1800"/>
            </a:pPr>
            <a:r>
              <a:t>消息输入 → 结构化识别 → 股票池沉淀 → 日度评估 → 盘中刷新 → Agent 解读 → 排序与结论输出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2. 当前系统的总体分层架构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400" i="1"/>
            </a:pPr>
            <a:r>
              <a:t>[代码/图示块]</a:t>
            </a:r>
          </a:p>
          <a:p>
            <a:pPr lvl="1" algn="l">
              <a:defRPr sz="1600">
                <a:latin typeface="Menlo"/>
              </a:defRPr>
            </a:pPr>
            <a:r>
              <a:t>flowchart LR</a:t>
            </a:r>
          </a:p>
          <a:p>
            <a:pPr lvl="1" algn="l">
              <a:defRPr sz="1600">
                <a:latin typeface="Menlo"/>
              </a:defRPr>
            </a:pPr>
            <a:r>
              <a:t>A[聊天消息 / 人工文本 / 研究资料] --&gt; B[接入层]</a:t>
            </a:r>
          </a:p>
          <a:p>
            <a:pPr lvl="1" algn="l">
              <a:defRPr sz="1600">
                <a:latin typeface="Menlo"/>
              </a:defRPr>
            </a:pPr>
            <a:r>
              <a:t>B --&gt; C[识别解析层]</a:t>
            </a:r>
          </a:p>
          <a:p>
            <a:pPr lvl="1" algn="l">
              <a:defRPr sz="1600">
                <a:latin typeface="Menlo"/>
              </a:defRPr>
            </a:pPr>
            <a:r>
              <a:t>C --&gt; D[业务编排层 FinanceAgentService]</a:t>
            </a:r>
          </a:p>
          <a:p>
            <a:pPr lvl="1" algn="l">
              <a:defRPr sz="1600">
                <a:latin typeface="Menlo"/>
              </a:defRPr>
            </a:pPr>
            <a:r>
              <a:t>D --&gt; E[(结构化数据库)]</a:t>
            </a:r>
          </a:p>
          <a:p>
            <a:pPr lvl="1" algn="l">
              <a:defRPr sz="1600">
                <a:latin typeface="Menlo"/>
              </a:defRPr>
            </a:pPr>
            <a:r>
              <a:t>D --&gt; F[(RAG/知识库)]</a:t>
            </a:r>
          </a:p>
          <a:p>
            <a:pPr lvl="1" algn="l">
              <a:defRPr sz="1600">
                <a:latin typeface="Menlo"/>
              </a:defRPr>
            </a:pPr>
            <a:r>
              <a:t>D --&gt; G[行情/新闻 Provider]</a:t>
            </a:r>
          </a:p>
          <a:p>
            <a:pPr lvl="1" algn="l">
              <a:defRPr sz="1600">
                <a:latin typeface="Menlo"/>
              </a:defRPr>
            </a:pPr>
            <a:r>
              <a:t>D --&gt; H[LLM / Agent 层]</a:t>
            </a:r>
          </a:p>
          <a:p>
            <a:pPr lvl="1" algn="l">
              <a:defRPr sz="1600">
                <a:latin typeface="Menlo"/>
              </a:defRPr>
            </a:pPr>
            <a:r>
              <a:t>E --&gt; I[Dashboard]</a:t>
            </a:r>
          </a:p>
          <a:p>
            <a:pPr lvl="1" algn="l">
              <a:defRPr sz="1600">
                <a:latin typeface="Menlo"/>
              </a:defRPr>
            </a:pPr>
            <a:r>
              <a:t>E --&gt; J[个股详情页]</a:t>
            </a:r>
          </a:p>
          <a:p>
            <a:pPr lvl="1" algn="l">
              <a:defRPr sz="1600">
                <a:latin typeface="Menlo"/>
              </a:defRPr>
            </a:pPr>
            <a:r>
              <a:t>D --&gt; K[定时任务 / 手动刷新]</a:t>
            </a:r>
          </a:p>
          <a:p>
            <a:pPr lvl="1" algn="l">
              <a:defRPr sz="1600">
                <a:latin typeface="Menlo"/>
              </a:defRPr>
            </a:pPr>
            <a:r>
              <a:t>H --&gt; J</a:t>
            </a:r>
          </a:p>
          <a:p>
            <a:pPr algn="l">
              <a:defRPr sz="1400" i="1"/>
            </a:pPr>
          </a:p>
          <a:p>
            <a:pPr algn="l">
              <a:defRPr sz="2000" b="1"/>
            </a:pPr>
            <a:r>
              <a:t>架构结论</a:t>
            </a:r>
          </a:p>
          <a:p>
            <a:pPr lvl="1" algn="l">
              <a:defRPr sz="1800"/>
            </a:pPr>
            <a:r>
              <a:t>不是单点页面项目，而是“多入口 + 多数据源 + 多分析层”的平台化结构</a:t>
            </a:r>
          </a:p>
          <a:p>
            <a:pPr lvl="1" algn="l">
              <a:defRPr sz="1800"/>
            </a:pPr>
            <a:r>
              <a:t>核心编排集中在 `FinanceAgentService`</a:t>
            </a:r>
          </a:p>
          <a:p>
            <a:pPr lvl="1" algn="l">
              <a:defRPr sz="1800"/>
            </a:pPr>
            <a:r>
              <a:t>前端是结果展示层，不承载核心业务逻辑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3. 模块职责拆解：每个模块到底负责什么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关键模块</a:t>
            </a:r>
          </a:p>
          <a:p>
            <a:pPr lvl="1" algn="l">
              <a:defRPr sz="1800"/>
            </a:pPr>
            <a:r>
              <a:t>`app/main.py`</a:t>
            </a:r>
          </a:p>
          <a:p>
            <a:pPr lvl="1" algn="l">
              <a:defRPr sz="1800"/>
            </a:pPr>
            <a:r>
              <a:t>路由注册</a:t>
            </a:r>
          </a:p>
          <a:p>
            <a:pPr lvl="1" algn="l">
              <a:defRPr sz="1800"/>
            </a:pPr>
            <a:r>
              <a:t>依赖注入</a:t>
            </a:r>
          </a:p>
          <a:p>
            <a:pPr lvl="1" algn="l">
              <a:defRPr sz="1800"/>
            </a:pPr>
            <a:r>
              <a:t>页面入口</a:t>
            </a:r>
          </a:p>
          <a:p>
            <a:pPr lvl="1" algn="l">
              <a:defRPr sz="1800"/>
            </a:pPr>
            <a:r>
              <a:t>手动刷新后台线程启动</a:t>
            </a:r>
          </a:p>
          <a:p>
            <a:pPr lvl="1" algn="l">
              <a:defRPr sz="1800"/>
            </a:pPr>
            <a:r>
              <a:t>`app/services.py`</a:t>
            </a:r>
          </a:p>
          <a:p>
            <a:pPr lvl="1" algn="l">
              <a:defRPr sz="1800"/>
            </a:pPr>
            <a:r>
              <a:t>系统核心编排中心</a:t>
            </a:r>
          </a:p>
          <a:p>
            <a:pPr lvl="1" algn="l">
              <a:defRPr sz="1800"/>
            </a:pPr>
            <a:r>
              <a:t>连接输入、评估、盘中、Agent、排序、输出</a:t>
            </a:r>
          </a:p>
          <a:p>
            <a:pPr lvl="1" algn="l">
              <a:defRPr sz="1800"/>
            </a:pPr>
            <a:r>
              <a:t>`app/providers.py`</a:t>
            </a:r>
          </a:p>
          <a:p>
            <a:pPr lvl="1" algn="l">
              <a:defRPr sz="1800"/>
            </a:pPr>
            <a:r>
              <a:t>行情源 / 盘中源 / 新闻源抽象与具体实现</a:t>
            </a:r>
          </a:p>
          <a:p>
            <a:pPr lvl="1" algn="l">
              <a:defRPr sz="1800"/>
            </a:pPr>
            <a:r>
              <a:t>`app/models.py`</a:t>
            </a:r>
          </a:p>
          <a:p>
            <a:pPr lvl="1" algn="l">
              <a:defRPr sz="1800"/>
            </a:pPr>
            <a:r>
              <a:t>结构化数据模型定义</a:t>
            </a:r>
          </a:p>
          <a:p>
            <a:pPr lvl="1" algn="l">
              <a:defRPr sz="1800"/>
            </a:pPr>
            <a:r>
              <a:t>`app/input_parser_agent.py`</a:t>
            </a:r>
          </a:p>
          <a:p>
            <a:pPr lvl="1" algn="l">
              <a:defRPr sz="1800"/>
            </a:pPr>
            <a:r>
              <a:t>输入消息语义理解</a:t>
            </a:r>
          </a:p>
          <a:p>
            <a:pPr lvl="1" algn="l">
              <a:defRPr sz="1800"/>
            </a:pPr>
            <a:r>
              <a:t>`app/analysis_agent.py`</a:t>
            </a:r>
          </a:p>
          <a:p>
            <a:pPr lvl="1" algn="l">
              <a:defRPr sz="1800"/>
            </a:pPr>
            <a:r>
              <a:t>盘中/复盘摘要生成</a:t>
            </a:r>
          </a:p>
          <a:p>
            <a:pPr lvl="1" algn="l">
              <a:defRPr sz="1800"/>
            </a:pPr>
            <a:r>
              <a:t>`app/decision_engine.py`</a:t>
            </a:r>
          </a:p>
          <a:p>
            <a:pPr lvl="1" algn="l">
              <a:defRPr sz="1800"/>
            </a:pPr>
            <a:r>
              <a:t>AI 方向与置信度判断</a:t>
            </a:r>
          </a:p>
          <a:p>
            <a:pPr algn="l">
              <a:defRPr sz="2000" b="1"/>
            </a:pPr>
            <a:r>
              <a:t>当前工程判断</a:t>
            </a:r>
          </a:p>
          <a:p>
            <a:pPr lvl="1" algn="l">
              <a:defRPr sz="1800"/>
            </a:pPr>
            <a:r>
              <a:t>优点：模块边界基本清晰，抽象已成型</a:t>
            </a:r>
          </a:p>
          <a:p>
            <a:pPr lvl="1" algn="l">
              <a:defRPr sz="1800"/>
            </a:pPr>
            <a:r>
              <a:t>问题：`services.py` 过重，后续需要按输入域/评估域/盘中域/输出域拆分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4. 数据模型设计：系统沉淀了哪些关键资产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核心结构化表</a:t>
            </a:r>
          </a:p>
          <a:p>
            <a:pPr lvl="1" algn="l">
              <a:defRPr sz="1800"/>
            </a:pPr>
            <a:r>
              <a:t>`stocks`：股票主表</a:t>
            </a:r>
          </a:p>
          <a:p>
            <a:pPr lvl="1" algn="l">
              <a:defRPr sz="1800"/>
            </a:pPr>
            <a:r>
              <a:t>`recommenders`：荐股人主表</a:t>
            </a:r>
          </a:p>
          <a:p>
            <a:pPr lvl="1" algn="l">
              <a:defRPr sz="1800"/>
            </a:pPr>
            <a:r>
              <a:t>`recommendations`：推荐记录</a:t>
            </a:r>
          </a:p>
          <a:p>
            <a:pPr lvl="1" algn="l">
              <a:defRPr sz="1800"/>
            </a:pPr>
            <a:r>
              <a:t>`daily_performance`：每日评估结果</a:t>
            </a:r>
          </a:p>
          <a:p>
            <a:pPr lvl="1" algn="l">
              <a:defRPr sz="1800"/>
            </a:pPr>
            <a:r>
              <a:t>`stock_predictions`：AI 预测与复盘结果</a:t>
            </a:r>
          </a:p>
          <a:p>
            <a:pPr lvl="1" algn="l">
              <a:defRPr sz="1800"/>
            </a:pPr>
            <a:r>
              <a:t>`news_discovery_candidates`：新闻扫描候选池</a:t>
            </a:r>
          </a:p>
          <a:p>
            <a:pPr lvl="1" algn="l">
              <a:defRPr sz="1800"/>
            </a:pPr>
            <a:r>
              <a:t>`intraday_bars`：分钟线</a:t>
            </a:r>
          </a:p>
          <a:p>
            <a:pPr lvl="1" algn="l">
              <a:defRPr sz="1800"/>
            </a:pPr>
            <a:r>
              <a:t>`intraday_ticks`：逐笔成交</a:t>
            </a:r>
          </a:p>
          <a:p>
            <a:pPr lvl="1" algn="l">
              <a:defRPr sz="1800"/>
            </a:pPr>
            <a:r>
              <a:t>`stock_daily_maintenance`：天级盘中维护快照</a:t>
            </a:r>
          </a:p>
          <a:p>
            <a:pPr algn="l">
              <a:defRPr sz="2000" b="1"/>
            </a:pPr>
            <a:r>
              <a:t>数据模型的设计意义</a:t>
            </a:r>
          </a:p>
          <a:p>
            <a:pPr lvl="1" algn="l">
              <a:defRPr sz="1800"/>
            </a:pPr>
            <a:r>
              <a:t>`recommendations` 解决“信息不丢”</a:t>
            </a:r>
          </a:p>
          <a:p>
            <a:pPr lvl="1" algn="l">
              <a:defRPr sz="1800"/>
            </a:pPr>
            <a:r>
              <a:t>`daily_performance` 解决“持续评估”</a:t>
            </a:r>
          </a:p>
          <a:p>
            <a:pPr lvl="1" algn="l">
              <a:defRPr sz="1800"/>
            </a:pPr>
            <a:r>
              <a:t>`stock_predictions` 解决“预测-回看-复盘”</a:t>
            </a:r>
          </a:p>
          <a:p>
            <a:pPr lvl="1" algn="l">
              <a:defRPr sz="1800"/>
            </a:pPr>
            <a:r>
              <a:t>`intraday_*` 解决“盘中真实交易信息可落地”</a:t>
            </a:r>
          </a:p>
          <a:p>
            <a:pPr lvl="1" algn="l">
              <a:defRPr sz="1800"/>
            </a:pPr>
            <a:r>
              <a:t>`stock_daily_maintenance` 解决“盘中状态可沉淀为当天快照”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5. 输入识别逻辑（一）：从前端点击到后端接收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前端入口</a:t>
            </a:r>
          </a:p>
          <a:p>
            <a:pPr algn="l">
              <a:defRPr sz="1800"/>
            </a:pPr>
            <a:r>
              <a:t>Dashboard 提供股票消息输入表单：</a:t>
            </a:r>
          </a:p>
          <a:p>
            <a:pPr lvl="1" algn="l">
              <a:defRPr sz="1800"/>
            </a:pPr>
            <a:r>
              <a:t>默认荐股人</a:t>
            </a:r>
          </a:p>
          <a:p>
            <a:pPr lvl="1" algn="l">
              <a:defRPr sz="1800"/>
            </a:pPr>
            <a:r>
              <a:t>批量消息文本</a:t>
            </a:r>
          </a:p>
          <a:p>
            <a:pPr lvl="1" algn="l">
              <a:defRPr sz="1800"/>
            </a:pPr>
            <a:r>
              <a:t>点击后提交到 `/manual/import`</a:t>
            </a:r>
          </a:p>
          <a:p>
            <a:pPr algn="l">
              <a:defRPr sz="2000" b="1"/>
            </a:pPr>
            <a:r>
              <a:t>路由处理</a:t>
            </a:r>
          </a:p>
          <a:p>
            <a:pPr algn="l">
              <a:defRPr sz="1800"/>
            </a:pPr>
            <a:r>
              <a:t>`/manual/import` 调用 `ingest_bulk_text()`。</a:t>
            </a:r>
          </a:p>
          <a:p>
            <a:pPr algn="l">
              <a:defRPr sz="2000" b="1"/>
            </a:pPr>
            <a:r>
              <a:t>这一步做了什么</a:t>
            </a:r>
          </a:p>
          <a:p>
            <a:pPr algn="l">
              <a:defRPr sz="1800"/>
            </a:pPr>
            <a:r>
              <a:t>前端并不是直接“把文本写数据库”，而是进入一个标准化输入流水线：</a:t>
            </a:r>
          </a:p>
          <a:p>
            <a:pPr lvl="1" algn="l">
              <a:defRPr sz="1800"/>
            </a:pPr>
            <a:r>
              <a:t>接收原始文本</a:t>
            </a:r>
          </a:p>
          <a:p>
            <a:pPr lvl="1" algn="l">
              <a:defRPr sz="1800"/>
            </a:pPr>
            <a:r>
              <a:t>拆解为记录列表</a:t>
            </a:r>
          </a:p>
          <a:p>
            <a:pPr lvl="1" algn="l">
              <a:defRPr sz="1800"/>
            </a:pPr>
            <a:r>
              <a:t>对每条记录做推荐识别</a:t>
            </a:r>
          </a:p>
          <a:p>
            <a:pPr lvl="1" algn="l">
              <a:defRPr sz="1800"/>
            </a:pPr>
            <a:r>
              <a:t>成功的入推荐库</a:t>
            </a:r>
          </a:p>
          <a:p>
            <a:pPr lvl="1" algn="l">
              <a:defRPr sz="1800"/>
            </a:pPr>
            <a:r>
              <a:t>失败但有研究价值的入 RAG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已支持前端一键批量导入</a:t>
            </a:r>
          </a:p>
          <a:p>
            <a:pPr lvl="1" algn="l">
              <a:defRPr sz="1800"/>
            </a:pPr>
            <a:r>
              <a:t>已支持后端统一解析入口</a:t>
            </a:r>
          </a:p>
          <a:p>
            <a:pPr lvl="1" algn="l">
              <a:defRPr sz="1800"/>
            </a:pPr>
            <a:r>
              <a:t>已做到“推荐”和“研究资料”双路径分流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6. 输入识别逻辑（二）：消息拆解与格式兼容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`ingest_bulk_text()` 内部第一层逻辑</a:t>
            </a:r>
          </a:p>
          <a:p>
            <a:pPr algn="l">
              <a:defRPr sz="1800"/>
            </a:pPr>
            <a:r>
              <a:t>先调用 `_extract_bulk_records()`，按顺序尝试：</a:t>
            </a:r>
          </a:p>
          <a:p>
            <a:pPr lvl="1" algn="l">
              <a:defRPr sz="1800"/>
            </a:pPr>
            <a:r>
              <a:t>JSON 解析</a:t>
            </a:r>
          </a:p>
          <a:p>
            <a:pPr lvl="1" algn="l">
              <a:defRPr sz="1800"/>
            </a:pPr>
            <a:r>
              <a:t>CSV 解析</a:t>
            </a:r>
          </a:p>
          <a:p>
            <a:pPr lvl="1" algn="l">
              <a:defRPr sz="1800"/>
            </a:pPr>
            <a:r>
              <a:t>自由文本解析</a:t>
            </a:r>
          </a:p>
          <a:p>
            <a:pPr algn="l">
              <a:defRPr sz="2000" b="1"/>
            </a:pPr>
            <a:r>
              <a:t>已支持的具体格式</a:t>
            </a:r>
          </a:p>
          <a:p>
            <a:pPr lvl="1" algn="l">
              <a:defRPr sz="1800"/>
            </a:pPr>
            <a:r>
              <a:t>`张三：600519 看好，逻辑是...`</a:t>
            </a:r>
          </a:p>
          <a:p>
            <a:pPr lvl="1" algn="l">
              <a:defRPr sz="1800"/>
            </a:pPr>
            <a:r>
              <a:t>微信导出样式：`张三 2026-03-01 09:31` 下一行正文</a:t>
            </a:r>
          </a:p>
          <a:p>
            <a:pPr lvl="1" algn="l">
              <a:defRPr sz="1800"/>
            </a:pPr>
            <a:r>
              <a:t>JSON：`message/content/text + sender/name + time/ts`</a:t>
            </a:r>
          </a:p>
          <a:p>
            <a:pPr lvl="1" algn="l">
              <a:defRPr sz="1800"/>
            </a:pPr>
            <a:r>
              <a:t>CSV：带表头批量导入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不是只支持单一格式，而是做了多格式容错输入</a:t>
            </a:r>
          </a:p>
          <a:p>
            <a:pPr lvl="1" algn="l">
              <a:defRPr sz="1800"/>
            </a:pPr>
            <a:r>
              <a:t>能适配“半结构化”真实业务文本，而不是只适配标准 API JSON</a:t>
            </a:r>
          </a:p>
          <a:p>
            <a:pPr algn="l">
              <a:defRPr sz="2000" b="1"/>
            </a:pPr>
            <a:r>
              <a:t>当前问题</a:t>
            </a:r>
          </a:p>
          <a:p>
            <a:pPr lvl="1" algn="l">
              <a:defRPr sz="1800"/>
            </a:pPr>
            <a:r>
              <a:t>输入格式虽多，但解析失败原因前端不可视化</a:t>
            </a:r>
          </a:p>
          <a:p>
            <a:pPr lvl="1" algn="l">
              <a:defRPr sz="1800"/>
            </a:pPr>
            <a:r>
              <a:t>缺少“导入前预览”能力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7. 输入识别逻辑（三）：推荐识别的三层判定机制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`_parse_recommendations()` 的核心判定顺序</a:t>
            </a:r>
          </a:p>
          <a:p>
            <a:pPr lvl="1" algn="l">
              <a:defRPr sz="1800" b="1"/>
            </a:pPr>
            <a:r>
              <a:t>第一层：LLM 语义识别</a:t>
            </a:r>
          </a:p>
          <a:p>
            <a:pPr lvl="1" algn="l">
              <a:defRPr sz="1800"/>
            </a:pPr>
            <a:r>
              <a:t>调用 `LLMInputParserAgent`</a:t>
            </a:r>
          </a:p>
          <a:p>
            <a:pPr lvl="1" algn="l">
              <a:defRPr sz="1800"/>
            </a:pPr>
            <a:r>
              <a:t>判断消息类型：</a:t>
            </a:r>
          </a:p>
          <a:p>
            <a:pPr lvl="1" algn="l">
              <a:defRPr sz="1800"/>
            </a:pPr>
            <a:r>
              <a:t>`recommendation`</a:t>
            </a:r>
          </a:p>
          <a:p>
            <a:pPr lvl="1" algn="l">
              <a:defRPr sz="1800"/>
            </a:pPr>
            <a:r>
              <a:t>`tracking_update`</a:t>
            </a:r>
          </a:p>
          <a:p>
            <a:pPr lvl="1" algn="l">
              <a:defRPr sz="1800"/>
            </a:pPr>
            <a:r>
              <a:t>`research`</a:t>
            </a:r>
          </a:p>
          <a:p>
            <a:pPr lvl="1" algn="l">
              <a:defRPr sz="1800"/>
            </a:pPr>
            <a:r>
              <a:t>`macro`</a:t>
            </a:r>
          </a:p>
          <a:p>
            <a:pPr lvl="1" algn="l">
              <a:defRPr sz="1800"/>
            </a:pPr>
            <a:r>
              <a:t>`noise`</a:t>
            </a:r>
          </a:p>
          <a:p>
            <a:pPr lvl="1" algn="l">
              <a:defRPr sz="1800" b="1"/>
            </a:pPr>
            <a:r>
              <a:t>第二层：规则解析回退</a:t>
            </a:r>
          </a:p>
          <a:p>
            <a:pPr lvl="1" algn="l">
              <a:defRPr sz="1800"/>
            </a:pPr>
            <a:r>
              <a:t>若 LLM 不可用或低置信度，则走 `MessageParser`</a:t>
            </a:r>
          </a:p>
          <a:p>
            <a:pPr lvl="1" algn="l">
              <a:defRPr sz="1800"/>
            </a:pPr>
            <a:r>
              <a:t>解析股票代码、名字、推荐逻辑、时间</a:t>
            </a:r>
          </a:p>
          <a:p>
            <a:pPr lvl="1" algn="l">
              <a:defRPr sz="1800" b="1"/>
            </a:pPr>
            <a:r>
              <a:t>第三层：兜底抽取</a:t>
            </a:r>
          </a:p>
          <a:p>
            <a:pPr lvl="1" algn="l">
              <a:defRPr sz="1800"/>
            </a:pPr>
            <a:r>
              <a:t>若规则仍未完整识别，则尝试仅提取股票代码/名称</a:t>
            </a:r>
          </a:p>
          <a:p>
            <a:pPr lvl="1" algn="l">
              <a:defRPr sz="1800"/>
            </a:pPr>
            <a:r>
              <a:t>至少保证“线索先入库，不轻易丢失”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已具备“语义识别 + 规则稳定性 + 兜底保全”三层结构</a:t>
            </a:r>
          </a:p>
          <a:p>
            <a:pPr lvl="1" algn="l">
              <a:defRPr sz="1800"/>
            </a:pPr>
            <a:r>
              <a:t>这是输入层目前最关键的技术点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8. 输入识别逻辑（四）：识别后如何分流落库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识别结果有两条主路径</a:t>
            </a:r>
          </a:p>
          <a:p>
            <a:pPr lvl="1" algn="l">
              <a:defRPr sz="1800" b="1"/>
            </a:pPr>
            <a:r>
              <a:t>路径 A：识别为推荐</a:t>
            </a:r>
          </a:p>
          <a:p>
            <a:pPr algn="l">
              <a:defRPr sz="1800"/>
            </a:pPr>
            <a:r>
              <a:t>进入 `ingest_message()`，依次执行：</a:t>
            </a:r>
          </a:p>
          <a:p>
            <a:pPr lvl="1" algn="l">
              <a:defRPr sz="1800"/>
            </a:pPr>
            <a:r>
              <a:t>获取或创建 `Stock`</a:t>
            </a:r>
          </a:p>
          <a:p>
            <a:pPr lvl="1" algn="l">
              <a:defRPr sz="1800"/>
            </a:pPr>
            <a:r>
              <a:t>获取或创建 `Recommender`</a:t>
            </a:r>
          </a:p>
          <a:p>
            <a:pPr lvl="1" algn="l">
              <a:defRPr sz="1800"/>
            </a:pPr>
            <a:r>
              <a:t>去重校验</a:t>
            </a:r>
          </a:p>
          <a:p>
            <a:pPr lvl="1" algn="l">
              <a:defRPr sz="1800"/>
            </a:pPr>
            <a:r>
              <a:t>新建 `Recommendation`</a:t>
            </a:r>
          </a:p>
          <a:p>
            <a:pPr lvl="1" algn="l">
              <a:defRPr sz="1800"/>
            </a:pPr>
            <a:r>
              <a:t>写入股票知识库条目</a:t>
            </a:r>
          </a:p>
          <a:p>
            <a:pPr lvl="1" algn="l">
              <a:defRPr sz="1800" b="1"/>
            </a:pPr>
            <a:r>
              <a:t>路径 B：识别不成推荐</a:t>
            </a:r>
          </a:p>
          <a:p>
            <a:pPr algn="l">
              <a:defRPr sz="1800"/>
            </a:pPr>
            <a:r>
              <a:t>进入 `_save_research_note()`：</a:t>
            </a:r>
          </a:p>
          <a:p>
            <a:pPr lvl="1" algn="l">
              <a:defRPr sz="1800"/>
            </a:pPr>
            <a:r>
              <a:t>存入研究资料/RAG</a:t>
            </a:r>
          </a:p>
          <a:p>
            <a:pPr lvl="1" algn="l">
              <a:defRPr sz="1800"/>
            </a:pPr>
            <a:r>
              <a:t>供日后分析与 Agent 引用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实现了“输入不丢失”的设计目标</a:t>
            </a:r>
          </a:p>
          <a:p>
            <a:pPr lvl="1" algn="l">
              <a:defRPr sz="1800"/>
            </a:pPr>
            <a:r>
              <a:t>推荐和研究资料不是互斥丢弃，而是双库沉淀</a:t>
            </a:r>
          </a:p>
          <a:p>
            <a:pPr algn="l">
              <a:defRPr sz="2000" b="1"/>
            </a:pPr>
            <a:r>
              <a:t>当前问题</a:t>
            </a:r>
          </a:p>
          <a:p>
            <a:pPr lvl="1" algn="l">
              <a:defRPr sz="1800"/>
            </a:pPr>
            <a:r>
              <a:t>低置信度研究/噪音之间还缺少人工审核层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9. 一键抓取并更新：从前端按钮到后台任务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前端行为</a:t>
            </a:r>
          </a:p>
          <a:p>
            <a:pPr algn="l">
              <a:defRPr sz="1800"/>
            </a:pPr>
            <a:r>
              <a:t>点击 Dashboard 顶部 `🔄 一键抓取并更新`。</a:t>
            </a:r>
          </a:p>
          <a:p>
            <a:pPr algn="l">
              <a:defRPr sz="2000" b="1"/>
            </a:pPr>
            <a:r>
              <a:t>后端行为</a:t>
            </a:r>
          </a:p>
          <a:p>
            <a:pPr algn="l">
              <a:defRPr sz="1800"/>
            </a:pPr>
            <a:r>
              <a:t>路由 `/manual/refresh` 不直接同步执行重任务，而是：</a:t>
            </a:r>
          </a:p>
          <a:p>
            <a:pPr lvl="1" algn="l">
              <a:defRPr sz="1800"/>
            </a:pPr>
            <a:r>
              <a:t>检查是否已有刷新任务运行</a:t>
            </a:r>
          </a:p>
          <a:p>
            <a:pPr lvl="1" algn="l">
              <a:defRPr sz="1800"/>
            </a:pPr>
            <a:r>
              <a:t>若没有，则启动后台线程</a:t>
            </a:r>
          </a:p>
          <a:p>
            <a:pPr lvl="1" algn="l">
              <a:defRPr sz="1800"/>
            </a:pPr>
            <a:r>
              <a:t>页面立即返回“任务已启动”</a:t>
            </a:r>
          </a:p>
          <a:p>
            <a:pPr algn="l">
              <a:defRPr sz="2000" b="1"/>
            </a:pPr>
            <a:r>
              <a:t>这样设计的原因</a:t>
            </a:r>
          </a:p>
          <a:p>
            <a:pPr lvl="1" algn="l">
              <a:defRPr sz="1800"/>
            </a:pPr>
            <a:r>
              <a:t>防止页面阻塞太久</a:t>
            </a:r>
          </a:p>
          <a:p>
            <a:pPr lvl="1" algn="l">
              <a:defRPr sz="1800"/>
            </a:pPr>
            <a:r>
              <a:t>防止用户误以为系统无响应</a:t>
            </a:r>
          </a:p>
          <a:p>
            <a:pPr lvl="1" algn="l">
              <a:defRPr sz="1800"/>
            </a:pPr>
            <a:r>
              <a:t>避免重复点击造成重入问题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已实现非阻塞式手动刷新</a:t>
            </a:r>
          </a:p>
          <a:p>
            <a:pPr lvl="1" algn="l">
              <a:defRPr sz="1800"/>
            </a:pPr>
            <a:r>
              <a:t>已有简单状态提示和互斥控制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10. 一键抓取并更新：后台完整数据流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后台 `_run_manual_refresh()` 顺序</a:t>
            </a:r>
          </a:p>
          <a:p>
            <a:pPr lvl="1" algn="l">
              <a:defRPr sz="1800" b="1"/>
            </a:pPr>
            <a:r>
              <a:t>第一步：清理无效市场数据</a:t>
            </a:r>
          </a:p>
          <a:p>
            <a:pPr lvl="1" algn="l">
              <a:defRPr sz="1800"/>
            </a:pPr>
            <a:r>
              <a:t>调用 `cleanup_invalid_market_data()`</a:t>
            </a:r>
          </a:p>
          <a:p>
            <a:pPr lvl="1" algn="l">
              <a:defRPr sz="1800"/>
            </a:pPr>
            <a:r>
              <a:t>清理周末/无效日评估记录</a:t>
            </a:r>
          </a:p>
          <a:p>
            <a:pPr lvl="1" algn="l">
              <a:defRPr sz="1800"/>
            </a:pPr>
            <a:r>
              <a:t>清理无效预测记录</a:t>
            </a:r>
          </a:p>
          <a:p>
            <a:pPr lvl="1" algn="l">
              <a:defRPr sz="1800" b="1"/>
            </a:pPr>
            <a:r>
              <a:t>第二步：新闻扫描</a:t>
            </a:r>
          </a:p>
          <a:p>
            <a:pPr lvl="1" algn="l">
              <a:defRPr sz="1800"/>
            </a:pPr>
            <a:r>
              <a:t>调用 `run_news_discovery_scan()`</a:t>
            </a:r>
          </a:p>
          <a:p>
            <a:pPr lvl="1" algn="l">
              <a:defRPr sz="1800"/>
            </a:pPr>
            <a:r>
              <a:t>从白名单资讯源抓取候选事件</a:t>
            </a:r>
          </a:p>
          <a:p>
            <a:pPr lvl="1" algn="l">
              <a:defRPr sz="1800"/>
            </a:pPr>
            <a:r>
              <a:t>形成候选股票列表</a:t>
            </a:r>
          </a:p>
          <a:p>
            <a:pPr lvl="1" algn="l">
              <a:defRPr sz="1800" b="1"/>
            </a:pPr>
            <a:r>
              <a:t>第三步：全量日评估</a:t>
            </a:r>
          </a:p>
          <a:p>
            <a:pPr lvl="1" algn="l">
              <a:defRPr sz="1800"/>
            </a:pPr>
            <a:r>
              <a:t>调用 `evaluate_all_recommendations()`</a:t>
            </a:r>
          </a:p>
          <a:p>
            <a:pPr lvl="1" algn="l">
              <a:defRPr sz="1800"/>
            </a:pPr>
            <a:r>
              <a:t>对全部活跃推荐逐只更新状态</a:t>
            </a:r>
          </a:p>
          <a:p>
            <a:pPr algn="l">
              <a:defRPr sz="2000" b="1"/>
            </a:pPr>
            <a:r>
              <a:t>影响范围</a:t>
            </a:r>
          </a:p>
          <a:p>
            <a:pPr lvl="1" algn="l">
              <a:defRPr sz="1800"/>
            </a:pPr>
            <a:r>
              <a:t>`daily_performance`</a:t>
            </a:r>
          </a:p>
          <a:p>
            <a:pPr lvl="1" algn="l">
              <a:defRPr sz="1800"/>
            </a:pPr>
            <a:r>
              <a:t>`stock_predictions`</a:t>
            </a:r>
          </a:p>
          <a:p>
            <a:pPr lvl="1" algn="l">
              <a:defRPr sz="1800"/>
            </a:pPr>
            <a:r>
              <a:t>`recommendations.status`</a:t>
            </a:r>
          </a:p>
          <a:p>
            <a:pPr lvl="1" algn="l">
              <a:defRPr sz="1800"/>
            </a:pPr>
            <a:r>
              <a:t>`recommenders.reliability_score`</a:t>
            </a:r>
          </a:p>
          <a:p>
            <a:pPr lvl="1" algn="l">
              <a:defRPr sz="1800"/>
            </a:pPr>
            <a:r>
              <a:t>页面排行榜、日报、结论更新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11. 日度评估逻辑：系统每天到底如何给股票打分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`evaluate_all_recommendations()` 的单股处理流程</a:t>
            </a:r>
          </a:p>
          <a:p>
            <a:pPr algn="l">
              <a:defRPr sz="1800"/>
            </a:pPr>
            <a:r>
              <a:t>对每只活跃推荐逐一执行：</a:t>
            </a:r>
          </a:p>
          <a:p>
            <a:pPr lvl="1" algn="l">
              <a:defRPr sz="1800"/>
            </a:pPr>
            <a:r>
              <a:t>拉取日线快照</a:t>
            </a:r>
          </a:p>
          <a:p>
            <a:pPr lvl="1" algn="l">
              <a:defRPr sz="1800"/>
            </a:pPr>
            <a:r>
              <a:t>获取收盘价、高低点、收益、回撤、Sharpe 等指标</a:t>
            </a:r>
          </a:p>
          <a:p>
            <a:pPr lvl="1" algn="l">
              <a:defRPr sz="1800"/>
            </a:pPr>
            <a:r>
              <a:t>校验推荐逻辑是否被新闻验证</a:t>
            </a:r>
          </a:p>
          <a:p>
            <a:pPr lvl="1" algn="l">
              <a:defRPr sz="1800"/>
            </a:pPr>
            <a:r>
              <a:t>调用 `evaluate_recommendation()` 生成当日日评分</a:t>
            </a:r>
          </a:p>
          <a:p>
            <a:pPr lvl="1" algn="l">
              <a:defRPr sz="1800"/>
            </a:pPr>
            <a:r>
              <a:t>生成 AI 分析摘要</a:t>
            </a:r>
          </a:p>
          <a:p>
            <a:pPr lvl="1" algn="l">
              <a:defRPr sz="1800"/>
            </a:pPr>
            <a:r>
              <a:t>生成或更新下一交易日预测</a:t>
            </a:r>
          </a:p>
          <a:p>
            <a:pPr lvl="1" algn="l">
              <a:defRPr sz="1800"/>
            </a:pPr>
            <a:r>
              <a:t>根据状态机更新推荐状态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已形成完整的“日线数据 → 评分 → 分析 → 预测 → 状态更新”闭环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12. 股票评分逻辑：SQS 是怎么计算出来的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`compute_stock_quality_score()` 当前公式</a:t>
            </a:r>
          </a:p>
          <a:p>
            <a:pPr algn="l">
              <a:defRPr sz="1800"/>
            </a:pPr>
            <a:r>
              <a:t>股票质量分 =</a:t>
            </a:r>
          </a:p>
          <a:p>
            <a:pPr lvl="1" algn="l">
              <a:defRPr sz="1600" i="1"/>
            </a:pPr>
          </a:p>
          <a:p>
            <a:pPr algn="l">
              <a:defRPr sz="1800"/>
            </a:pPr>
            <a:r>
              <a:t>0.6 \times profitability + 0.2 \times logic + 0.2 \times quantitative</a:t>
            </a:r>
          </a:p>
          <a:p>
            <a:pPr lvl="1" algn="l">
              <a:defRPr sz="1600" i="1"/>
            </a:pPr>
          </a:p>
          <a:p>
            <a:pPr algn="l">
              <a:defRPr sz="2000" b="1"/>
            </a:pPr>
            <a:r>
              <a:t>三部分含义</a:t>
            </a:r>
          </a:p>
          <a:p>
            <a:pPr lvl="1" algn="l">
              <a:defRPr sz="1800" b="1"/>
            </a:pPr>
            <a:r>
              <a:t>1. 盈利能力（60%）</a:t>
            </a:r>
          </a:p>
          <a:p>
            <a:pPr lvl="1" algn="l">
              <a:defRPr sz="1800"/>
            </a:pPr>
            <a:r>
              <a:t>当前收益率</a:t>
            </a:r>
          </a:p>
          <a:p>
            <a:pPr lvl="1" algn="l">
              <a:defRPr sz="1800"/>
            </a:pPr>
            <a:r>
              <a:t>峰值收益率</a:t>
            </a:r>
          </a:p>
          <a:p>
            <a:pPr lvl="1" algn="l">
              <a:defRPr sz="1800"/>
            </a:pPr>
            <a:r>
              <a:t>Sharpe 比率</a:t>
            </a:r>
          </a:p>
          <a:p>
            <a:pPr lvl="1" algn="l">
              <a:defRPr sz="1800"/>
            </a:pPr>
            <a:r>
              <a:t>最大回撤惩罚</a:t>
            </a:r>
          </a:p>
          <a:p>
            <a:pPr lvl="1" algn="l">
              <a:defRPr sz="1800" b="1"/>
            </a:pPr>
            <a:r>
              <a:t>2. 逻辑验证（20%）</a:t>
            </a:r>
          </a:p>
          <a:p>
            <a:pPr lvl="1" algn="l">
              <a:defRPr sz="1800"/>
            </a:pPr>
            <a:r>
              <a:t>新闻侧是否验证原推荐逻辑</a:t>
            </a:r>
          </a:p>
          <a:p>
            <a:pPr lvl="1" algn="l">
              <a:defRPr sz="1800"/>
            </a:pPr>
            <a:r>
              <a:t>已验证给高分，未验证给基础分</a:t>
            </a:r>
          </a:p>
          <a:p>
            <a:pPr lvl="1" algn="l">
              <a:defRPr sz="1800" b="1"/>
            </a:pPr>
            <a:r>
              <a:t>3. 量化指标（20%）</a:t>
            </a:r>
          </a:p>
          <a:p>
            <a:pPr lvl="1" algn="l">
              <a:defRPr sz="1800"/>
            </a:pPr>
            <a:r>
              <a:t>市值评分</a:t>
            </a:r>
          </a:p>
          <a:p>
            <a:pPr lvl="1" algn="l">
              <a:defRPr sz="1800"/>
            </a:pPr>
            <a:r>
              <a:t>弹性评分</a:t>
            </a:r>
          </a:p>
          <a:p>
            <a:pPr lvl="1" algn="l">
              <a:defRPr sz="1800"/>
            </a:pPr>
            <a:r>
              <a:t>流动性评分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评分不是拍脑袋，而是已有明确公式和结构化维度</a:t>
            </a:r>
          </a:p>
          <a:p>
            <a:pPr algn="l">
              <a:defRPr sz="2000" b="1"/>
            </a:pPr>
            <a:r>
              <a:t>当前问题</a:t>
            </a:r>
          </a:p>
          <a:p>
            <a:pPr lvl="1" algn="l">
              <a:defRPr sz="1800"/>
            </a:pPr>
            <a:r>
              <a:t>权重仍是经验值，尚未做系统性回测优化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13. 荐股人评分逻辑：RRS 是怎么计算出来的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`refresh_recommender_scores()` 的处理方式</a:t>
            </a:r>
          </a:p>
          <a:p>
            <a:pPr algn="l">
              <a:defRPr sz="1800"/>
            </a:pPr>
            <a:r>
              <a:t>系统遍历每位荐股人的所有历史推荐，提取：</a:t>
            </a:r>
          </a:p>
          <a:p>
            <a:pPr lvl="1" algn="l">
              <a:defRPr sz="1800"/>
            </a:pPr>
            <a:r>
              <a:t>最新收益率</a:t>
            </a:r>
          </a:p>
          <a:p>
            <a:pPr lvl="1" algn="l">
              <a:defRPr sz="1800"/>
            </a:pPr>
            <a:r>
              <a:t>最大回撤</a:t>
            </a:r>
          </a:p>
          <a:p>
            <a:pPr lvl="1" algn="l">
              <a:defRPr sz="1800"/>
            </a:pPr>
            <a:r>
              <a:t>距今天数</a:t>
            </a:r>
          </a:p>
          <a:p>
            <a:pPr algn="l">
              <a:defRPr sz="1800"/>
            </a:pPr>
            <a:r>
              <a:t>再调用 `compute_recommender_reliability()`。</a:t>
            </a:r>
          </a:p>
          <a:p>
            <a:pPr algn="l">
              <a:defRPr sz="2000" b="1"/>
            </a:pPr>
            <a:r>
              <a:t>当前公式思想</a:t>
            </a:r>
          </a:p>
          <a:p>
            <a:pPr lvl="1" algn="l">
              <a:defRPr sz="1800"/>
            </a:pPr>
            <a:r>
              <a:t>用 90 天半衰期做时间衰减</a:t>
            </a:r>
          </a:p>
          <a:p>
            <a:pPr lvl="1" algn="l">
              <a:defRPr sz="1800"/>
            </a:pPr>
            <a:r>
              <a:t>近期表现权重大于远期表现</a:t>
            </a:r>
          </a:p>
          <a:p>
            <a:pPr lvl="1" algn="l">
              <a:defRPr sz="1800"/>
            </a:pPr>
            <a:r>
              <a:t>综合三项：</a:t>
            </a:r>
          </a:p>
          <a:p>
            <a:pPr lvl="1" algn="l">
              <a:defRPr sz="1800"/>
            </a:pPr>
            <a:r>
              <a:t>平均回报</a:t>
            </a:r>
          </a:p>
          <a:p>
            <a:pPr lvl="1" algn="l">
              <a:defRPr sz="1800"/>
            </a:pPr>
            <a:r>
              <a:t>命中率（收益 ≥ 10%）</a:t>
            </a:r>
          </a:p>
          <a:p>
            <a:pPr lvl="1" algn="l">
              <a:defRPr sz="1800"/>
            </a:pPr>
            <a:r>
              <a:t>平均回撤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已形成自动化、可重复计算的荐股人排序基础</a:t>
            </a:r>
          </a:p>
          <a:p>
            <a:pPr algn="l">
              <a:defRPr sz="2000" b="1"/>
            </a:pPr>
            <a:r>
              <a:t>当前问题</a:t>
            </a:r>
          </a:p>
          <a:p>
            <a:pPr lvl="1" algn="l">
              <a:defRPr sz="1800"/>
            </a:pPr>
            <a:r>
              <a:t>目前只有系统自动分，没有正式人工校正层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14. 股票排序与机会排序：列表是怎么排出来的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当前有两套排序语义</a:t>
            </a:r>
          </a:p>
          <a:p>
            <a:pPr lvl="1" algn="l">
              <a:defRPr sz="1800" b="1"/>
            </a:pPr>
            <a:r>
              <a:t>A. 股票池跟踪排序</a:t>
            </a:r>
          </a:p>
          <a:p>
            <a:pPr algn="l">
              <a:defRPr sz="1800"/>
            </a:pPr>
            <a:r>
              <a:t>展示最新状态：</a:t>
            </a:r>
          </a:p>
          <a:p>
            <a:pPr lvl="1" algn="l">
              <a:defRPr sz="1800"/>
            </a:pPr>
            <a:r>
              <a:t>`latest_score`</a:t>
            </a:r>
          </a:p>
          <a:p>
            <a:pPr lvl="1" algn="l">
              <a:defRPr sz="1800"/>
            </a:pPr>
            <a:r>
              <a:t>`latest_pnl`</a:t>
            </a:r>
          </a:p>
          <a:p>
            <a:pPr lvl="1" algn="l">
              <a:defRPr sz="1800"/>
            </a:pPr>
            <a:r>
              <a:t>`recommender_score`</a:t>
            </a:r>
          </a:p>
          <a:p>
            <a:pPr lvl="1" algn="l">
              <a:defRPr sz="1800"/>
            </a:pPr>
            <a:r>
              <a:t>`prediction_confidence`</a:t>
            </a:r>
          </a:p>
          <a:p>
            <a:pPr lvl="1" algn="l">
              <a:defRPr sz="1800"/>
            </a:pPr>
            <a:r>
              <a:t>`status`</a:t>
            </a:r>
          </a:p>
          <a:p>
            <a:pPr lvl="1" algn="l">
              <a:defRPr sz="1800" b="1"/>
            </a:pPr>
            <a:r>
              <a:t>B. 机会排序 `list_opportunity_stocks()`</a:t>
            </a:r>
          </a:p>
          <a:p>
            <a:pPr algn="l">
              <a:defRPr sz="1800"/>
            </a:pPr>
            <a:r>
              <a:t>按以下优先级降序：</a:t>
            </a:r>
          </a:p>
          <a:p>
            <a:pPr lvl="1" algn="l">
              <a:defRPr sz="1800"/>
            </a:pPr>
            <a:r>
              <a:t>`opportunity_score`</a:t>
            </a:r>
          </a:p>
          <a:p>
            <a:pPr lvl="1" algn="l">
              <a:defRPr sz="1800"/>
            </a:pPr>
            <a:r>
              <a:t>`latest_score`</a:t>
            </a:r>
          </a:p>
          <a:p>
            <a:pPr lvl="1" algn="l">
              <a:defRPr sz="1800"/>
            </a:pPr>
            <a:r>
              <a:t>`prediction_confidence`</a:t>
            </a:r>
          </a:p>
          <a:p>
            <a:pPr lvl="1" algn="l">
              <a:defRPr sz="1800"/>
            </a:pPr>
            <a:r>
              <a:t>`recommender_score`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已不是简单按涨幅排序，而是“股票质量 + 预测 + 信息源”的综合排序</a:t>
            </a:r>
          </a:p>
          <a:p>
            <a:pPr algn="l">
              <a:defRPr sz="2000" b="1"/>
            </a:pPr>
            <a:r>
              <a:t>当前问题</a:t>
            </a:r>
          </a:p>
          <a:p>
            <a:pPr lvl="1" algn="l">
              <a:defRPr sz="1800"/>
            </a:pPr>
            <a:r>
              <a:t>盘中维护快照还未正式纳入机会排序因子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15. 实盘数据获取逻辑：当前到底用了什么技术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当前市场数据架构</a:t>
            </a:r>
          </a:p>
          <a:p>
            <a:pPr lvl="1" algn="l">
              <a:defRPr sz="1800" b="1"/>
            </a:pPr>
            <a:r>
              <a:t>日线</a:t>
            </a:r>
          </a:p>
          <a:p>
            <a:pPr lvl="1" algn="l">
              <a:defRPr sz="1800"/>
            </a:pPr>
            <a:r>
              <a:t>主源：`baostock`</a:t>
            </a:r>
          </a:p>
          <a:p>
            <a:pPr lvl="1" algn="l">
              <a:defRPr sz="1800"/>
            </a:pPr>
            <a:r>
              <a:t>用于日度评估、收益率、回撤、状态机、预测复盘</a:t>
            </a:r>
          </a:p>
          <a:p>
            <a:pPr lvl="1" algn="l">
              <a:defRPr sz="1800" b="1"/>
            </a:pPr>
            <a:r>
              <a:t>盘中</a:t>
            </a:r>
          </a:p>
          <a:p>
            <a:pPr lvl="1" algn="l">
              <a:defRPr sz="1800"/>
            </a:pPr>
            <a:r>
              <a:t>当前组合：`freebest = pytdx -&gt; AKShare`</a:t>
            </a:r>
          </a:p>
          <a:p>
            <a:pPr lvl="1" algn="l">
              <a:defRPr sz="1800"/>
            </a:pPr>
            <a:r>
              <a:t>主源优先 `pytdx`</a:t>
            </a:r>
          </a:p>
          <a:p>
            <a:pPr lvl="1" algn="l">
              <a:defRPr sz="1800"/>
            </a:pPr>
            <a:r>
              <a:t>回退源 `AKShare`</a:t>
            </a:r>
          </a:p>
          <a:p>
            <a:pPr algn="l">
              <a:defRPr sz="2000" b="1"/>
            </a:pPr>
            <a:r>
              <a:t>当前已实现能力</a:t>
            </a:r>
          </a:p>
          <a:p>
            <a:pPr lvl="1" algn="l">
              <a:defRPr sz="1800"/>
            </a:pPr>
            <a:r>
              <a:t>1 分钟线抓取</a:t>
            </a:r>
          </a:p>
          <a:p>
            <a:pPr lvl="1" algn="l">
              <a:defRPr sz="1800"/>
            </a:pPr>
            <a:r>
              <a:t>逐笔抓取</a:t>
            </a:r>
          </a:p>
          <a:p>
            <a:pPr lvl="1" algn="l">
              <a:defRPr sz="1800"/>
            </a:pPr>
            <a:r>
              <a:t>本地落库</a:t>
            </a:r>
          </a:p>
          <a:p>
            <a:pPr lvl="1" algn="l">
              <a:defRPr sz="1800"/>
            </a:pPr>
            <a:r>
              <a:t>批量同步</a:t>
            </a:r>
          </a:p>
          <a:p>
            <a:pPr lvl="1" algn="l">
              <a:defRPr sz="1800"/>
            </a:pPr>
            <a:r>
              <a:t>页面直接绘制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分时不再是“调用接口看一下”，而是形成完整数据链路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16. 盘中数据逻辑：获取后如何标准化与落库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盘中数据进入系统后的处理顺序</a:t>
            </a:r>
          </a:p>
          <a:p>
            <a:pPr lvl="1" algn="l">
              <a:defRPr sz="1800"/>
            </a:pPr>
            <a:r>
              <a:t>Provider 拉取分钟线/逐笔</a:t>
            </a:r>
          </a:p>
          <a:p>
            <a:pPr lvl="1" algn="l">
              <a:defRPr sz="1800"/>
            </a:pPr>
            <a:r>
              <a:t>统一转为内部 `IntradayBar` / `IntradayTrade` 结构</a:t>
            </a:r>
          </a:p>
          <a:p>
            <a:pPr lvl="1" algn="l">
              <a:defRPr sz="1800"/>
            </a:pPr>
            <a:r>
              <a:t>写入 `intraday_bars` / `intraday_ticks`</a:t>
            </a:r>
          </a:p>
          <a:p>
            <a:pPr lvl="1" algn="l">
              <a:defRPr sz="1800"/>
            </a:pPr>
            <a:r>
              <a:t>构建 `stock_daily_maintenance`</a:t>
            </a:r>
          </a:p>
          <a:p>
            <a:pPr lvl="1" algn="l">
              <a:defRPr sz="1800"/>
            </a:pPr>
            <a:r>
              <a:t>页面和 Agent 共用该结果</a:t>
            </a:r>
          </a:p>
          <a:p>
            <a:pPr algn="l">
              <a:defRPr sz="2000" b="1"/>
            </a:pPr>
            <a:r>
              <a:t>解决过的关键问题</a:t>
            </a:r>
          </a:p>
          <a:p>
            <a:pPr lvl="1" algn="l">
              <a:defRPr sz="1800"/>
            </a:pPr>
            <a:r>
              <a:t>免费源成交量单位不统一（股 / 手）</a:t>
            </a:r>
          </a:p>
          <a:p>
            <a:pPr lvl="1" algn="l">
              <a:defRPr sz="1800"/>
            </a:pPr>
            <a:r>
              <a:t>前后端均价计算偏差</a:t>
            </a:r>
          </a:p>
          <a:p>
            <a:pPr lvl="1" algn="l">
              <a:defRPr sz="1800"/>
            </a:pPr>
            <a:r>
              <a:t>百分比刻度异常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已实现数据标准化</a:t>
            </a:r>
          </a:p>
          <a:p>
            <a:pPr lvl="1" algn="l">
              <a:defRPr sz="1800"/>
            </a:pPr>
            <a:r>
              <a:t>已实现口径自动识别</a:t>
            </a:r>
          </a:p>
          <a:p>
            <a:pPr lvl="1" algn="l">
              <a:defRPr sz="1800"/>
            </a:pPr>
            <a:r>
              <a:t>已支持复用存储数据而不是每次重新抓取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17. 个股页逻辑：打开详情页时系统内部发生什么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`get_stock_detail()` 的真实执行链</a:t>
            </a:r>
          </a:p>
          <a:p>
            <a:pPr lvl="1" algn="l">
              <a:defRPr sz="1800"/>
            </a:pPr>
            <a:r>
              <a:t>读取股票基本信息与历史推荐</a:t>
            </a:r>
          </a:p>
          <a:p>
            <a:pPr lvl="1" algn="l">
              <a:defRPr sz="1800"/>
            </a:pPr>
            <a:r>
              <a:t>读取存储的分时/逐笔</a:t>
            </a:r>
          </a:p>
          <a:p>
            <a:pPr lvl="1" algn="l">
              <a:defRPr sz="1800"/>
            </a:pPr>
            <a:r>
              <a:t>自动触发 `refresh_stock_realtime_context()`</a:t>
            </a:r>
          </a:p>
          <a:p>
            <a:pPr lvl="1" algn="l">
              <a:defRPr sz="1800"/>
            </a:pPr>
            <a:r>
              <a:t>拉取最新盘中分钟线和逐笔</a:t>
            </a:r>
          </a:p>
          <a:p>
            <a:pPr lvl="1" algn="l">
              <a:defRPr sz="1800"/>
            </a:pPr>
            <a:r>
              <a:t>更新 `stock_daily_maintenance`</a:t>
            </a:r>
          </a:p>
          <a:p>
            <a:pPr lvl="1" algn="l">
              <a:defRPr sz="1800"/>
            </a:pPr>
            <a:r>
              <a:t>调用 `build_intraday_agent_analysis()`</a:t>
            </a:r>
          </a:p>
          <a:p>
            <a:pPr lvl="1" algn="l">
              <a:defRPr sz="1800"/>
            </a:pPr>
            <a:r>
              <a:t>将解读文本写回维护快照</a:t>
            </a:r>
          </a:p>
          <a:p>
            <a:pPr lvl="1" algn="l">
              <a:defRPr sz="1800"/>
            </a:pPr>
            <a:r>
              <a:t>把所有上下文交给模板渲染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个股页已经不是静态详情页，而是“查询即刷新 + 查询即分析”的动态页</a:t>
            </a:r>
          </a:p>
          <a:p>
            <a:pPr algn="l">
              <a:defRPr sz="2000" b="1"/>
            </a:pPr>
            <a:r>
              <a:t>当前问题</a:t>
            </a:r>
          </a:p>
          <a:p>
            <a:pPr lvl="1" algn="l">
              <a:defRPr sz="1800"/>
            </a:pPr>
            <a:r>
              <a:t>页面访问会触发真实刷新，因此耗时受外部源和 LLM 影响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18. 前端展示逻辑：页面不只是显示数据，而是在做交易型呈现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已实现的同花顺风格要素</a:t>
            </a:r>
          </a:p>
          <a:p>
            <a:pPr lvl="1" algn="l">
              <a:defRPr sz="1800"/>
            </a:pPr>
            <a:r>
              <a:t>价格线</a:t>
            </a:r>
          </a:p>
          <a:p>
            <a:pPr lvl="1" algn="l">
              <a:defRPr sz="1800"/>
            </a:pPr>
            <a:r>
              <a:t>均价线</a:t>
            </a:r>
          </a:p>
          <a:p>
            <a:pPr lvl="1" algn="l">
              <a:defRPr sz="1800"/>
            </a:pPr>
            <a:r>
              <a:t>昨收 / 0% 基准线</a:t>
            </a:r>
          </a:p>
          <a:p>
            <a:pPr lvl="1" algn="l">
              <a:defRPr sz="1800"/>
            </a:pPr>
            <a:r>
              <a:t>右侧涨跌幅百分比刻度</a:t>
            </a:r>
          </a:p>
          <a:p>
            <a:pPr lvl="1" algn="l">
              <a:defRPr sz="1800"/>
            </a:pPr>
            <a:r>
              <a:t>成交量柱</a:t>
            </a:r>
          </a:p>
          <a:p>
            <a:pPr lvl="1" algn="l">
              <a:defRPr sz="1800"/>
            </a:pPr>
            <a:r>
              <a:t>逐笔成交列表</a:t>
            </a:r>
          </a:p>
          <a:p>
            <a:pPr lvl="1" algn="l">
              <a:defRPr sz="1800"/>
            </a:pPr>
            <a:r>
              <a:t>天级股票信息维护</a:t>
            </a:r>
          </a:p>
          <a:p>
            <a:pPr lvl="1" algn="l">
              <a:defRPr sz="1800"/>
            </a:pPr>
            <a:r>
              <a:t>自动盘中 Agent 解读</a:t>
            </a:r>
          </a:p>
          <a:p>
            <a:pPr algn="l">
              <a:defRPr sz="2000" b="1"/>
            </a:pPr>
            <a:r>
              <a:t>技术细节</a:t>
            </a:r>
          </a:p>
          <a:p>
            <a:pPr lvl="1" algn="l">
              <a:defRPr sz="1800"/>
            </a:pPr>
            <a:r>
              <a:t>原生 Canvas 绘制</a:t>
            </a:r>
          </a:p>
          <a:p>
            <a:pPr lvl="1" algn="l">
              <a:defRPr sz="1800"/>
            </a:pPr>
            <a:r>
              <a:t>页面预加载 JSON 数据</a:t>
            </a:r>
          </a:p>
          <a:p>
            <a:pPr lvl="1" algn="l">
              <a:defRPr sz="1800"/>
            </a:pPr>
            <a:r>
              <a:t>参考价按昨收对称绘制</a:t>
            </a:r>
          </a:p>
          <a:p>
            <a:pPr lvl="1" algn="l">
              <a:defRPr sz="1800"/>
            </a:pPr>
            <a:r>
              <a:t>成交量倍率自动识别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已具备“券商 App 式观察界面”雏形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19. Agent 逻辑：当前不是概念接入，而是已经进入业务主流程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已接入的 Agent 能力</a:t>
            </a:r>
          </a:p>
          <a:p>
            <a:pPr lvl="1" algn="l">
              <a:defRPr sz="1800"/>
            </a:pPr>
            <a:r>
              <a:t>输入解析 Agent</a:t>
            </a:r>
          </a:p>
          <a:p>
            <a:pPr lvl="1" algn="l">
              <a:defRPr sz="1800"/>
            </a:pPr>
            <a:r>
              <a:t>盘中/复盘分析 Agent</a:t>
            </a:r>
          </a:p>
          <a:p>
            <a:pPr lvl="1" algn="l">
              <a:defRPr sz="1800"/>
            </a:pPr>
            <a:r>
              <a:t>决策引擎</a:t>
            </a:r>
          </a:p>
          <a:p>
            <a:pPr algn="l">
              <a:defRPr sz="2000" b="1"/>
            </a:pPr>
            <a:r>
              <a:t>盘中 Agent 的真实工作流</a:t>
            </a:r>
          </a:p>
          <a:p>
            <a:pPr lvl="1" algn="l">
              <a:defRPr sz="1800"/>
            </a:pPr>
            <a:r>
              <a:t>读取最新推荐逻辑</a:t>
            </a:r>
          </a:p>
          <a:p>
            <a:pPr lvl="1" algn="l">
              <a:defRPr sz="1800"/>
            </a:pPr>
            <a:r>
              <a:t>读取最新日评估</a:t>
            </a:r>
          </a:p>
          <a:p>
            <a:pPr lvl="1" algn="l">
              <a:defRPr sz="1800"/>
            </a:pPr>
            <a:r>
              <a:t>读取 RAG/知识库上下文</a:t>
            </a:r>
          </a:p>
          <a:p>
            <a:pPr lvl="1" algn="l">
              <a:defRPr sz="1800"/>
            </a:pPr>
            <a:r>
              <a:t>读取最新盘中维护快照</a:t>
            </a:r>
          </a:p>
          <a:p>
            <a:pPr lvl="1" algn="l">
              <a:defRPr sz="1800"/>
            </a:pPr>
            <a:r>
              <a:t>组装 evidence bundle</a:t>
            </a:r>
          </a:p>
          <a:p>
            <a:pPr lvl="1" algn="l">
              <a:defRPr sz="1800"/>
            </a:pPr>
            <a:r>
              <a:t>调用本地 LLM</a:t>
            </a:r>
          </a:p>
          <a:p>
            <a:pPr lvl="1" algn="l">
              <a:defRPr sz="1800"/>
            </a:pPr>
            <a:r>
              <a:t>失败时回退 factual summary</a:t>
            </a:r>
          </a:p>
          <a:p>
            <a:pPr lvl="1" algn="l">
              <a:defRPr sz="1800"/>
            </a:pPr>
            <a:r>
              <a:t>成功结果写回维护快照</a:t>
            </a:r>
          </a:p>
          <a:p>
            <a:pPr algn="l">
              <a:defRPr sz="2000" b="1"/>
            </a:pPr>
            <a:r>
              <a:t>当前做到的程度</a:t>
            </a:r>
          </a:p>
          <a:p>
            <a:pPr lvl="1" algn="l">
              <a:defRPr sz="1800"/>
            </a:pPr>
            <a:r>
              <a:t>Agent 已从“辅助工具”变成“页面逻辑的一部分”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20. 当前完成度总结：已经做到了什么程度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输入侧</a:t>
            </a:r>
          </a:p>
          <a:p>
            <a:pPr lvl="1" algn="l">
              <a:defRPr sz="1800"/>
            </a:pPr>
            <a:r>
              <a:t>已支持多格式批量导入</a:t>
            </a:r>
          </a:p>
          <a:p>
            <a:pPr lvl="1" algn="l">
              <a:defRPr sz="1800"/>
            </a:pPr>
            <a:r>
              <a:t>已支持 LLM + 规则双通道识别</a:t>
            </a:r>
          </a:p>
          <a:p>
            <a:pPr lvl="1" algn="l">
              <a:defRPr sz="1800"/>
            </a:pPr>
            <a:r>
              <a:t>已支持推荐/研究资料双路径沉淀</a:t>
            </a:r>
          </a:p>
          <a:p>
            <a:pPr algn="l">
              <a:defRPr sz="2000" b="1"/>
            </a:pPr>
            <a:r>
              <a:t>日评侧</a:t>
            </a:r>
          </a:p>
          <a:p>
            <a:pPr lvl="1" algn="l">
              <a:defRPr sz="1800"/>
            </a:pPr>
            <a:r>
              <a:t>已支持全量推荐每日评估</a:t>
            </a:r>
          </a:p>
          <a:p>
            <a:pPr lvl="1" algn="l">
              <a:defRPr sz="1800"/>
            </a:pPr>
            <a:r>
              <a:t>已支持股票评分、荐股人评分、预测与复盘</a:t>
            </a:r>
          </a:p>
          <a:p>
            <a:pPr algn="l">
              <a:defRPr sz="2000" b="1"/>
            </a:pPr>
            <a:r>
              <a:t>盘中侧</a:t>
            </a:r>
          </a:p>
          <a:p>
            <a:pPr lvl="1" algn="l">
              <a:defRPr sz="1800"/>
            </a:pPr>
            <a:r>
              <a:t>已支持分钟线、逐笔、落库、前端展示、Agent 解读</a:t>
            </a:r>
          </a:p>
          <a:p>
            <a:pPr algn="l">
              <a:defRPr sz="2000" b="1"/>
            </a:pPr>
            <a:r>
              <a:t>平台侧</a:t>
            </a:r>
          </a:p>
          <a:p>
            <a:pPr lvl="1" algn="l">
              <a:defRPr sz="1800"/>
            </a:pPr>
            <a:r>
              <a:t>已有 API、页面、手动刷新、定时调度、Webhook 接入口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21. 当前主要问题：系统还有哪些技术短板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工程问题</a:t>
            </a:r>
          </a:p>
          <a:p>
            <a:pPr lvl="1" algn="l">
              <a:defRPr sz="1800"/>
            </a:pPr>
            <a:r>
              <a:t>`services.py` 过大，维护成本上升</a:t>
            </a:r>
          </a:p>
          <a:p>
            <a:pPr lvl="1" algn="l">
              <a:defRPr sz="1800"/>
            </a:pPr>
            <a:r>
              <a:t>部分逻辑仍集中在单服务文件中，后续拆分势在必行</a:t>
            </a:r>
          </a:p>
          <a:p>
            <a:pPr algn="l">
              <a:defRPr sz="2000" b="1"/>
            </a:pPr>
            <a:r>
              <a:t>数据问题</a:t>
            </a:r>
          </a:p>
          <a:p>
            <a:pPr lvl="1" algn="l">
              <a:defRPr sz="1800"/>
            </a:pPr>
            <a:r>
              <a:t>免费源稳定性波动不可避免</a:t>
            </a:r>
          </a:p>
          <a:p>
            <a:pPr lvl="1" algn="l">
              <a:defRPr sz="1800"/>
            </a:pPr>
            <a:r>
              <a:t>字段口径统一需要持续维护</a:t>
            </a:r>
          </a:p>
          <a:p>
            <a:pPr algn="l">
              <a:defRPr sz="2000" b="1"/>
            </a:pPr>
            <a:r>
              <a:t>交互问题</a:t>
            </a:r>
          </a:p>
          <a:p>
            <a:pPr lvl="1" algn="l">
              <a:defRPr sz="1800"/>
            </a:pPr>
            <a:r>
              <a:t>输入缺少预览确认</a:t>
            </a:r>
          </a:p>
          <a:p>
            <a:pPr lvl="1" algn="l">
              <a:defRPr sz="1800"/>
            </a:pPr>
            <a:r>
              <a:t>低置信度结果缺少人工审核流</a:t>
            </a:r>
          </a:p>
          <a:p>
            <a:pPr algn="l">
              <a:defRPr sz="2000" b="1"/>
            </a:pPr>
            <a:r>
              <a:t>性能问题</a:t>
            </a:r>
          </a:p>
          <a:p>
            <a:pPr lvl="1" algn="l">
              <a:defRPr sz="1800"/>
            </a:pPr>
            <a:r>
              <a:t>个股页查询即刷新，响应时间波动较大</a:t>
            </a:r>
          </a:p>
          <a:p>
            <a:pPr algn="l">
              <a:defRPr sz="2000" b="1"/>
            </a:pPr>
            <a:r>
              <a:t>策略问题</a:t>
            </a:r>
          </a:p>
          <a:p>
            <a:pPr lvl="1" algn="l">
              <a:defRPr sz="1800"/>
            </a:pPr>
            <a:r>
              <a:t>股票评分、荐股人评分权重仍偏经验值</a:t>
            </a:r>
          </a:p>
          <a:p>
            <a:pPr lvl="1" algn="l">
              <a:defRPr sz="1800"/>
            </a:pPr>
            <a:r>
              <a:t>缺少更系统的回测校准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22. 下一阶段技术路线：应该继续往哪里做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第一阶段：稳定性工程化</a:t>
            </a:r>
          </a:p>
          <a:p>
            <a:pPr lvl="1" algn="l">
              <a:defRPr sz="1800"/>
            </a:pPr>
            <a:r>
              <a:t>拆分服务层</a:t>
            </a:r>
          </a:p>
          <a:p>
            <a:pPr lvl="1" algn="l">
              <a:defRPr sz="1800"/>
            </a:pPr>
            <a:r>
              <a:t>增加 provider 健康检查与熔断</a:t>
            </a:r>
          </a:p>
          <a:p>
            <a:pPr lvl="1" algn="l">
              <a:defRPr sz="1800"/>
            </a:pPr>
            <a:r>
              <a:t>增加盘中缓存与节流</a:t>
            </a:r>
          </a:p>
          <a:p>
            <a:pPr lvl="1" algn="l">
              <a:defRPr sz="1800"/>
            </a:pPr>
            <a:r>
              <a:t>增加运行日志与监控面板</a:t>
            </a:r>
          </a:p>
          <a:p>
            <a:pPr algn="l">
              <a:defRPr sz="2000" b="1"/>
            </a:pPr>
            <a:r>
              <a:t>第二阶段：识别与分析增强</a:t>
            </a:r>
          </a:p>
          <a:p>
            <a:pPr lvl="1" algn="l">
              <a:defRPr sz="1800"/>
            </a:pPr>
            <a:r>
              <a:t>输入预览审核流</a:t>
            </a:r>
          </a:p>
          <a:p>
            <a:pPr lvl="1" algn="l">
              <a:defRPr sz="1800"/>
            </a:pPr>
            <a:r>
              <a:t>股票名称映射增强</a:t>
            </a:r>
          </a:p>
          <a:p>
            <a:pPr lvl="1" algn="l">
              <a:defRPr sz="1800"/>
            </a:pPr>
            <a:r>
              <a:t>Agent 输出结构化</a:t>
            </a:r>
          </a:p>
          <a:p>
            <a:pPr lvl="1" algn="l">
              <a:defRPr sz="1800"/>
            </a:pPr>
            <a:r>
              <a:t>盘中维护快照进入排序因子</a:t>
            </a:r>
          </a:p>
          <a:p>
            <a:pPr algn="l">
              <a:defRPr sz="2000" b="1"/>
            </a:pPr>
            <a:r>
              <a:t>第三阶段：研究价值增强</a:t>
            </a:r>
          </a:p>
          <a:p>
            <a:pPr lvl="1" algn="l">
              <a:defRPr sz="1800"/>
            </a:pPr>
            <a:r>
              <a:t>更强回测与评分校准</a:t>
            </a:r>
          </a:p>
          <a:p>
            <a:pPr lvl="1" algn="l">
              <a:defRPr sz="1800"/>
            </a:pPr>
            <a:r>
              <a:t>板块/资金流/概念联动</a:t>
            </a:r>
          </a:p>
          <a:p>
            <a:pPr lvl="1" algn="l">
              <a:defRPr sz="1800"/>
            </a:pPr>
            <a:r>
              <a:t>荐股人人工校正机制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23. 最终结论：这套系统现在处于什么阶段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 b="1"/>
            </a:pPr>
            <a:r>
              <a:t>一句话结论</a:t>
            </a:r>
          </a:p>
          <a:p>
            <a:pPr algn="l">
              <a:defRPr sz="1800"/>
            </a:pPr>
            <a:r>
              <a:t>`dgq_finance_agent` 已经完成从“消息记录工具”到“投研闭环平台原型”的跨越。</a:t>
            </a:r>
          </a:p>
          <a:p>
            <a:pPr algn="l">
              <a:defRPr sz="2000" b="1"/>
            </a:pPr>
            <a:r>
              <a:t>技术上已经具备</a:t>
            </a:r>
          </a:p>
          <a:p>
            <a:pPr lvl="1" algn="l">
              <a:defRPr sz="1800"/>
            </a:pPr>
            <a:r>
              <a:t>结构化输入识别</a:t>
            </a:r>
          </a:p>
          <a:p>
            <a:pPr lvl="1" algn="l">
              <a:defRPr sz="1800"/>
            </a:pPr>
            <a:r>
              <a:t>日度自动评估</a:t>
            </a:r>
          </a:p>
          <a:p>
            <a:pPr lvl="1" algn="l">
              <a:defRPr sz="1800"/>
            </a:pPr>
            <a:r>
              <a:t>盘中真实数据链路</a:t>
            </a:r>
          </a:p>
          <a:p>
            <a:pPr lvl="1" algn="l">
              <a:defRPr sz="1800"/>
            </a:pPr>
            <a:r>
              <a:t>个股页动态刷新</a:t>
            </a:r>
          </a:p>
          <a:p>
            <a:pPr lvl="1" algn="l">
              <a:defRPr sz="1800"/>
            </a:pPr>
            <a:r>
              <a:t>Agent 自动分析</a:t>
            </a:r>
          </a:p>
          <a:p>
            <a:pPr lvl="1" algn="l">
              <a:defRPr sz="1800"/>
            </a:pPr>
            <a:r>
              <a:t>股票与荐股人排序基础</a:t>
            </a:r>
          </a:p>
          <a:p>
            <a:pPr algn="l">
              <a:defRPr sz="2000" b="1"/>
            </a:pPr>
            <a:r>
              <a:t>当前阶段定位</a:t>
            </a:r>
          </a:p>
          <a:p>
            <a:pPr lvl="1" algn="l">
              <a:defRPr sz="1800"/>
            </a:pPr>
            <a:r>
              <a:t>功能主链路已打通</a:t>
            </a:r>
          </a:p>
          <a:p>
            <a:pPr lvl="1" algn="l">
              <a:defRPr sz="1800"/>
            </a:pPr>
            <a:r>
              <a:t>关键能力已验证</a:t>
            </a:r>
          </a:p>
          <a:p>
            <a:pPr lvl="1" algn="l">
              <a:defRPr sz="1800"/>
            </a:pPr>
            <a:r>
              <a:t>下一步重点不是“有没有功能”，而是“稳定性、工程化、精细化”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